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3d047a594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a3d047a594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a3d047a594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3d047a594_2_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a3d047a594_2_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a3d047a594_2_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3d047a594_2_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a3d047a594_2_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a3d047a594_2_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3d047a594_2_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a3d047a594_2_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a3d047a594_2_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3d047a594_2_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a3d047a594_2_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a3d047a594_2_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3d047a594_2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3d047a594_2_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a3d047a594_2_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3d047a594_3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a3d047a594_3_1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3d047a594_3_1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3d047a594_2_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a3d047a594_2_6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a3d047a594_2_6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3d047a594_2_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a3d047a594_2_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a3d047a594_2_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3d047a594_2_1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a3d047a594_2_1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3d047a594_2_1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3d047a594_2_1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a3d047a594_2_1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a3d047a594_2_1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3d047a594_2_1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a3d047a594_2_1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a3d047a594_2_1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3d047a594_2_1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a3d047a594_2_1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a3d047a594_2_1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3d047a594_2_1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a3d047a594_2_1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3d047a594_2_1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3d047a594_2_2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a3d047a594_2_2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a3d047a594_2_20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3d047a594_2_2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a3d047a594_2_2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a3d047a594_2_2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3d047a594_2_1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a3d047a594_2_1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a3d047a594_2_1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3d047a594_2_1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a3d047a594_2_1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a3d047a594_2_1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3d047a594_2_1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a3d047a594_2_16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a3d047a594_2_16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3d047a594_2_1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a3d047a594_2_1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a3d047a594_2_1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3d047a594_2_2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a3d047a594_2_2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a3d047a594_2_2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3d047a594_2_2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a3d047a594_2_2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a3d047a594_2_2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3d047a594_2_2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a3d047a594_2_2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a3d047a594_2_2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3d047a594_2_2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a3d047a594_2_2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a3d047a594_2_2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3d047a594_2_2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a3d047a594_2_2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a3d047a594_2_2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3d047a594_2_2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a3d047a594_2_2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a3d047a594_2_2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3d047a594_2_2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a3d047a594_2_2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a3d047a594_2_2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3d047a594_2_2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a3d047a594_2_29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a3d047a594_2_29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3d047a594_2_3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a3d047a594_2_3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a3d047a594_2_3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3d047a594_2_3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a3d047a594_2_3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a3d047a594_2_3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3d047a594_2_3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a3d047a594_2_3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a3d047a594_2_3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a3d047a594_3_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g3a3d047a594_3_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a3d047a594_3_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a3d047a594_2_3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a3d047a594_2_3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a3d047a594_2_3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1975533" y="1322115"/>
            <a:ext cx="519285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500"/>
              <a:buFont typeface="Arial"/>
              <a:buNone/>
            </a:pPr>
            <a:r>
              <a:rPr b="1" i="0" lang="en-GB" sz="4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Google Antigravity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2997330" y="2160315"/>
            <a:ext cx="314934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Agentic Development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2705410" y="2785095"/>
            <a:ext cx="3733181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next generation of AI-powered development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2942681" y="3634680"/>
            <a:ext cx="325856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Where agents plan, execute, and verify complex tasks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Problem: Traditional Development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✗ Constant context switching: Editor → Terminal → Browser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✗ Manual debugging and testing cycles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✗ Copy-pasting between tools slows you down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✗ Writing code, running tests, checking results—repeat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609600" y="3131716"/>
            <a:ext cx="808329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Reality: 60% context switching, 40% actual coding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Copilot Agent Mode: A Big Step Forward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What Copilot Solved: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914400" y="1642021"/>
            <a:ext cx="7620000" cy="15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Autonomous code generation from natural language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No more manual copy-pasting between tools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Feature scaffolding in minutes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Reduced manual setup dramatically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Gap: Why Copilot Is Still Limited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Copilot writes code, but can't see if it works: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914400" y="1642021"/>
            <a:ext cx="7620000" cy="1154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✗ Code-only visibility: No terminal logs or browser rendering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✗ Single surface: Only the editor, no terminal or browser integration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✗ No learning cycle: You report bugs by screenshot → describe issue → ask for fix → repeat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609600" y="2948806"/>
            <a:ext cx="808329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Result: Still 60% context switching, just faster code generation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/>
          <p:nvPr/>
        </p:nvSpPr>
        <p:spPr>
          <a:xfrm>
            <a:off x="2583954" y="2009775"/>
            <a:ext cx="3976092" cy="1687711"/>
          </a:xfrm>
          <a:prstGeom prst="roundRect">
            <a:avLst>
              <a:gd fmla="val 4334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2499411" y="1445940"/>
            <a:ext cx="4145179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Solution: Antigravity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2855089" y="2314575"/>
            <a:ext cx="34338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Describe what you want.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2855089" y="2733675"/>
            <a:ext cx="343382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Agents handle everything else.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2855089" y="3206055"/>
            <a:ext cx="343382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Write code → Run tests → Verify in browser → Done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/>
        </p:nvSpPr>
        <p:spPr>
          <a:xfrm>
            <a:off x="609600" y="1173435"/>
            <a:ext cx="7924800" cy="851892"/>
          </a:xfrm>
          <a:prstGeom prst="roundRect">
            <a:avLst>
              <a:gd fmla="val 8587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609600" y="2177728"/>
            <a:ext cx="7924800" cy="1327249"/>
          </a:xfrm>
          <a:prstGeom prst="roundRect">
            <a:avLst>
              <a:gd fmla="val 5511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609600" y="3504977"/>
            <a:ext cx="7924800" cy="1327249"/>
          </a:xfrm>
          <a:prstGeom prst="roundRect">
            <a:avLst>
              <a:gd fmla="val 55116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Copilot Agent Mode vs Antigravity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838200" y="1402035"/>
            <a:ext cx="7616952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40"/>
              <a:buFont typeface="Arial"/>
              <a:buNone/>
            </a:pPr>
            <a:r>
              <a:rPr b="1" i="0" lang="en-GB" sz="114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🎯 The Core Difference: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838200" y="1604739"/>
            <a:ext cx="761695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b="1" i="0" lang="en-GB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Copilot:</a:t>
            </a:r>
            <a:r>
              <a:rPr b="0" i="0" lang="en-GB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Blind assistant (code-only) | </a:t>
            </a:r>
            <a:r>
              <a:rPr b="1" i="0" lang="en-GB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Antigravity:</a:t>
            </a:r>
            <a:r>
              <a:rPr b="0" i="0" lang="en-GB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Captain with eyes (sees running app)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792435" y="2360563"/>
            <a:ext cx="771031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🤖 Copilot Agent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792435" y="2656210"/>
            <a:ext cx="771031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Writes code autonomously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792435" y="2898502"/>
            <a:ext cx="771031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✗ Can't see the running app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792435" y="3140794"/>
            <a:ext cx="771031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✗ Single surface (Editor)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792435" y="3687812"/>
            <a:ext cx="771031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🚀 Antigravity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792435" y="3983459"/>
            <a:ext cx="771031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Writes code autonomously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792435" y="4225751"/>
            <a:ext cx="771031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Sees running app (browser control)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792435" y="4468044"/>
            <a:ext cx="771031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Three surfaces (Editor+Terminal+Browser)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/>
          <p:nvPr/>
        </p:nvSpPr>
        <p:spPr>
          <a:xfrm>
            <a:off x="609600" y="609600"/>
            <a:ext cx="8083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GB" sz="2700">
                <a:solidFill>
                  <a:srgbClr val="38BDF8"/>
                </a:solidFill>
              </a:rPr>
              <a:t>Capabilities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609600" y="1249635"/>
            <a:ext cx="808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914400" y="1642021"/>
            <a:ext cx="76200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GB" sz="1300">
                <a:solidFill>
                  <a:schemeClr val="lt1"/>
                </a:solidFill>
              </a:rPr>
              <a:t>Agentic Orchestration</a:t>
            </a:r>
            <a:r>
              <a:rPr lang="en-GB" sz="1300">
                <a:solidFill>
                  <a:schemeClr val="lt1"/>
                </a:solidFill>
              </a:rPr>
              <a:t>: Coordinate multiple agents (planning, coding, testing) asynchronously.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GB" sz="1300">
                <a:solidFill>
                  <a:schemeClr val="lt1"/>
                </a:solidFill>
              </a:rPr>
              <a:t>Multi-Surface Control:</a:t>
            </a:r>
            <a:r>
              <a:rPr lang="en-GB" sz="1300">
                <a:solidFill>
                  <a:schemeClr val="lt1"/>
                </a:solidFill>
              </a:rPr>
              <a:t> "Three Surfaces, One Agent" (Editor, Terminal, Browser).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GB" sz="1300">
                <a:solidFill>
                  <a:schemeClr val="lt1"/>
                </a:solidFill>
              </a:rPr>
              <a:t>Visual Verification</a:t>
            </a:r>
            <a:r>
              <a:rPr lang="en-GB" sz="1300">
                <a:solidFill>
                  <a:schemeClr val="lt1"/>
                </a:solidFill>
              </a:rPr>
              <a:t>: Agents can "see" via browser screenshots/videos and DOM inspection.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GB" sz="1300">
                <a:solidFill>
                  <a:schemeClr val="lt1"/>
                </a:solidFill>
              </a:rPr>
              <a:t>Artifact-Based Trust:</a:t>
            </a:r>
            <a:r>
              <a:rPr lang="en-GB" sz="1300">
                <a:solidFill>
                  <a:schemeClr val="lt1"/>
                </a:solidFill>
              </a:rPr>
              <a:t> Proves work through structured outputs (Plans, Diffs, Media) rather than just text.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GB" sz="1300">
                <a:solidFill>
                  <a:schemeClr val="lt1"/>
                </a:solidFill>
              </a:rPr>
              <a:t>Human-in-the-Loop Policies:</a:t>
            </a:r>
            <a:r>
              <a:rPr lang="en-GB" sz="1300">
                <a:solidFill>
                  <a:schemeClr val="lt1"/>
                </a:solidFill>
              </a:rPr>
              <a:t> Configurable autonomy (Terminal execution policies, Review policies).</a:t>
            </a:r>
            <a:endParaRPr sz="13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2304604" y="2071836"/>
            <a:ext cx="831279" cy="743694"/>
          </a:xfrm>
          <a:prstGeom prst="roundRect">
            <a:avLst>
              <a:gd fmla="val 9836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3974083" y="2071836"/>
            <a:ext cx="1159892" cy="743694"/>
          </a:xfrm>
          <a:prstGeom prst="roundRect">
            <a:avLst>
              <a:gd fmla="val 9836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5972175" y="2071836"/>
            <a:ext cx="867147" cy="743694"/>
          </a:xfrm>
          <a:prstGeom prst="roundRect">
            <a:avLst>
              <a:gd fmla="val 9836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2353940" y="3044130"/>
            <a:ext cx="797421" cy="743694"/>
          </a:xfrm>
          <a:prstGeom prst="roundRect">
            <a:avLst>
              <a:gd fmla="val 9836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3989561" y="3044130"/>
            <a:ext cx="1049610" cy="743694"/>
          </a:xfrm>
          <a:prstGeom prst="roundRect">
            <a:avLst>
              <a:gd fmla="val 9836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5877371" y="3134767"/>
            <a:ext cx="912614" cy="562347"/>
          </a:xfrm>
          <a:prstGeom prst="roundRect">
            <a:avLst>
              <a:gd fmla="val 13008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How It Works: Step-by-Step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2495104" y="2262336"/>
            <a:ext cx="450279" cy="362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1️⃣ Task</a:t>
            </a:r>
            <a:r>
              <a:rPr lang="en-GB" sz="9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GB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3438397" y="2283693"/>
            <a:ext cx="23317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4164583" y="2262336"/>
            <a:ext cx="778892" cy="362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2️⃣ Analyze &amp;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5436489" y="2283693"/>
            <a:ext cx="23317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6162675" y="2262336"/>
            <a:ext cx="486147" cy="362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3️⃣ Write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2544440" y="3234630"/>
            <a:ext cx="416421" cy="362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4️⃣ Run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3453875" y="3255987"/>
            <a:ext cx="23317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4180061" y="3234630"/>
            <a:ext cx="668610" cy="362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5️⃣ Verify in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5341685" y="3255987"/>
            <a:ext cx="23317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6062555" y="3325267"/>
            <a:ext cx="54224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n-GB" sz="920">
                <a:solidFill>
                  <a:srgbClr val="FFFFFF"/>
                </a:solidFill>
              </a:rPr>
              <a:t>Done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/>
          <p:nvPr/>
        </p:nvSpPr>
        <p:spPr>
          <a:xfrm>
            <a:off x="3059675" y="1584295"/>
            <a:ext cx="1047900" cy="1022400"/>
          </a:xfrm>
          <a:prstGeom prst="roundRect">
            <a:avLst>
              <a:gd fmla="val 71556" name="adj"/>
            </a:avLst>
          </a:prstGeom>
          <a:solidFill>
            <a:srgbClr val="064E8A"/>
          </a:solidFill>
          <a:ln>
            <a:noFill/>
          </a:ln>
          <a:effectLst>
            <a:outerShdw blurRad="1143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4929375" y="1584300"/>
            <a:ext cx="1047900" cy="1022400"/>
          </a:xfrm>
          <a:prstGeom prst="roundRect">
            <a:avLst>
              <a:gd fmla="val 71556" name="adj"/>
            </a:avLst>
          </a:prstGeom>
          <a:solidFill>
            <a:srgbClr val="064E8A"/>
          </a:solidFill>
          <a:ln>
            <a:noFill/>
          </a:ln>
          <a:effectLst>
            <a:outerShdw blurRad="1143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3985930" y="2507600"/>
            <a:ext cx="1047900" cy="1022400"/>
          </a:xfrm>
          <a:prstGeom prst="roundRect">
            <a:avLst>
              <a:gd fmla="val 71556" name="adj"/>
            </a:avLst>
          </a:prstGeom>
          <a:solidFill>
            <a:srgbClr val="064E8A"/>
          </a:solidFill>
          <a:ln>
            <a:noFill/>
          </a:ln>
          <a:effectLst>
            <a:outerShdw blurRad="1143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2557551" y="725401"/>
            <a:ext cx="4133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160"/>
              <a:buFont typeface="Arial"/>
              <a:buNone/>
            </a:pPr>
            <a:r>
              <a:rPr b="1" i="0" lang="en-GB" sz="216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Three Surfaces, One</a:t>
            </a:r>
            <a:r>
              <a:rPr b="1" lang="en-GB" sz="2160">
                <a:solidFill>
                  <a:srgbClr val="38BDF8"/>
                </a:solidFill>
              </a:rPr>
              <a:t> </a:t>
            </a:r>
            <a:r>
              <a:rPr b="1" i="0" lang="en-GB" sz="216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3181268" y="1713775"/>
            <a:ext cx="8046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3181268" y="2148056"/>
            <a:ext cx="804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3181268" y="2338482"/>
            <a:ext cx="804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0" i="0" lang="en-GB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writes code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5050968" y="1713793"/>
            <a:ext cx="8046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🖥️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5050968" y="2148116"/>
            <a:ext cx="804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Terminal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5050968" y="2338561"/>
            <a:ext cx="804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0" i="0" lang="en-GB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runs tests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4096680" y="2748735"/>
            <a:ext cx="8046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4107586" y="3121926"/>
            <a:ext cx="804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4107585" y="3284336"/>
            <a:ext cx="804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0" i="0" lang="en-GB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verifies UI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2927653" y="4278120"/>
            <a:ext cx="3288693" cy="150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60"/>
              <a:buFont typeface="Arial"/>
              <a:buNone/>
            </a:pPr>
            <a:r>
              <a:rPr b="0" i="0" lang="en-GB" sz="96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 orchestrates editing, testing, and UI verification automatically.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4034950" y="1619250"/>
            <a:ext cx="952500" cy="952500"/>
          </a:xfrm>
          <a:prstGeom prst="roundRect">
            <a:avLst>
              <a:gd fmla="val 480000" name="adj"/>
            </a:avLst>
          </a:prstGeom>
          <a:solidFill>
            <a:srgbClr val="0284C7"/>
          </a:solidFill>
          <a:ln cap="flat" cmpd="sng" w="285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4339933" y="1821826"/>
            <a:ext cx="3399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640"/>
              <a:buFont typeface="Arial"/>
              <a:buNone/>
            </a:pPr>
            <a:r>
              <a:rPr b="0" i="0" lang="en-GB" sz="264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🤖</a:t>
            </a:r>
            <a:endParaRPr b="0" i="0" sz="26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4364274" y="2270745"/>
            <a:ext cx="3084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8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b="1" i="0" lang="en-GB" sz="83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8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/>
          <p:nvPr/>
        </p:nvSpPr>
        <p:spPr>
          <a:xfrm>
            <a:off x="609600" y="1249635"/>
            <a:ext cx="7924800" cy="819894"/>
          </a:xfrm>
          <a:prstGeom prst="roundRect">
            <a:avLst>
              <a:gd fmla="val 8922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09600" y="2221929"/>
            <a:ext cx="7924800" cy="819894"/>
          </a:xfrm>
          <a:prstGeom prst="roundRect">
            <a:avLst>
              <a:gd fmla="val 8922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609600" y="3194224"/>
            <a:ext cx="7924800" cy="819894"/>
          </a:xfrm>
          <a:prstGeom prst="roundRect">
            <a:avLst>
              <a:gd fmla="val 8922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How Agent Sees: Three-Step Vision Pipeline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800100" y="1440135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1️⃣ Visual Snapshot (Pixel Understanding)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800100" y="1697682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Screenshots + Computer Vision = Agent understands spatial layout, colors, alignment issues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800100" y="2412429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2️⃣ Interactive Element Map (DOM Tree)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800100" y="2669977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Browser Extension extracts clickable elements with unique IDs &amp; coordinates → Agent can precisely target interactions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800100" y="3384724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3️⃣ Computed Styles (CSS Reality Check)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800100" y="3642271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Query computed CSS → Agent knows if element is hidden (display:none) or clickable, not just what HTML says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/>
          <p:nvPr/>
        </p:nvSpPr>
        <p:spPr>
          <a:xfrm>
            <a:off x="609600" y="1249635"/>
            <a:ext cx="7924800" cy="1565970"/>
          </a:xfrm>
          <a:prstGeom prst="roundRect">
            <a:avLst>
              <a:gd fmla="val 4671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609600" y="2968005"/>
            <a:ext cx="7924800" cy="1565970"/>
          </a:xfrm>
          <a:prstGeom prst="roundRect">
            <a:avLst>
              <a:gd fmla="val 46714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5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Why "Eyes" Make All the Difference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/>
          <p:nvPr/>
        </p:nvSpPr>
        <p:spPr>
          <a:xfrm>
            <a:off x="838200" y="1478235"/>
            <a:ext cx="761695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🤖 Copilot (Blind)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838200" y="1773882"/>
            <a:ext cx="761695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❌ Reads only source code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838200" y="2031429"/>
            <a:ext cx="761695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❌ Can't see opacity, z-index, or hidden layers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838200" y="2288977"/>
            <a:ext cx="761695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❌ You manually test in browser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5"/>
          <p:cNvSpPr/>
          <p:nvPr/>
        </p:nvSpPr>
        <p:spPr>
          <a:xfrm>
            <a:off x="838200" y="3196605"/>
            <a:ext cx="761695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👁️ Antigravity (With Eyes)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838200" y="3492252"/>
            <a:ext cx="761695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Sees rendered pixels + computed CSS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838200" y="3749799"/>
            <a:ext cx="761695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Detects visual bugs autonomously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838200" y="4007346"/>
            <a:ext cx="7616952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Tests and fixes without your help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Trust Through Artifacts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Agent doesn't just say "I did it". Agent SHOWS you the proof: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914400" y="1642021"/>
            <a:ext cx="7620000" cy="2000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📋 Task Plans → See the strategy upfront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📊 Code Diffs → Exact lines that changed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📸 Screenshots → Before &amp; after UI state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🎬 Browser Videos → Watch agent testing live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✅ Test Results → Which tests passed/failed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/>
          <p:nvPr/>
        </p:nvSpPr>
        <p:spPr>
          <a:xfrm>
            <a:off x="609600" y="1249635"/>
            <a:ext cx="7924800" cy="993130"/>
          </a:xfrm>
          <a:prstGeom prst="roundRect">
            <a:avLst>
              <a:gd fmla="val 7365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609600" y="2395165"/>
            <a:ext cx="7924800" cy="993130"/>
          </a:xfrm>
          <a:prstGeom prst="roundRect">
            <a:avLst>
              <a:gd fmla="val 73658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609600" y="3540696"/>
            <a:ext cx="7924800" cy="993130"/>
          </a:xfrm>
          <a:prstGeom prst="roundRect">
            <a:avLst>
              <a:gd fmla="val 7365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Three Autonomy Modes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800100" y="1440135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👀 Review-Driven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800100" y="1697682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You approve every step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800100" y="2585665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⚖️ Agent-Assisted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800100" y="2843213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decides &amp; asks when unsure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800100" y="3731196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🚀 Turbo Mode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800100" y="3988743"/>
            <a:ext cx="7694676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Full autonomy (still reviewable)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/>
          <p:nvPr/>
        </p:nvSpPr>
        <p:spPr>
          <a:xfrm>
            <a:off x="609600" y="1249635"/>
            <a:ext cx="7924800" cy="1320254"/>
          </a:xfrm>
          <a:prstGeom prst="roundRect">
            <a:avLst>
              <a:gd fmla="val 5540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609600" y="2798490"/>
            <a:ext cx="7924800" cy="1320254"/>
          </a:xfrm>
          <a:prstGeom prst="roundRect">
            <a:avLst>
              <a:gd fmla="val 55408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Unique Architecture: Two Windows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838200" y="1478235"/>
            <a:ext cx="7616952" cy="213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Agent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838200" y="1843980"/>
            <a:ext cx="761695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b="0" i="0" lang="en-GB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High-level: Send tasks, review artifacts, make decisions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838200" y="3027090"/>
            <a:ext cx="7616952" cy="213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838200" y="3392835"/>
            <a:ext cx="761695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GB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Low-level: Edit code, run commands, see files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609600" y="4347270"/>
            <a:ext cx="808329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Switch between them with Cmd+E. Different windows for different thinking.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Rules &amp; Workflows: Guide the Agent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Teach agent your preferences: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9"/>
          <p:cNvSpPr/>
          <p:nvPr/>
        </p:nvSpPr>
        <p:spPr>
          <a:xfrm>
            <a:off x="914400" y="1642021"/>
            <a:ext cx="7620000" cy="1154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📋 Rules: Permanent guidelines (PEP-8, code style, patterns)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⚡ Workflows: On-demand commands (/generate-tests, /refactor)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🎯 Per-workspace: Different rules for different projects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Security &amp; Control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0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You decide what agent can and cannot do: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914400" y="1642021"/>
            <a:ext cx="7620000" cy="15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Allow List: Only whitelisted commands execute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Deny List: Block dangerous commands (rm, sudo, curl)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URL Allowlist: Browser only visits trusted sites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Full transparency: See every action before it happens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Real Example: Conference Website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You say:</a:t>
            </a: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"Build a 1-day tech conference site with schedule, speakers, search"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914400" y="1642021"/>
            <a:ext cx="7620000" cy="2000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Agent creates Python/Flask backend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Agent builds responsive HTML/CSS/JS frontend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Agent generates sample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Agent tests all features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Agent launches live for you to review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Real Example: Generate &amp; Test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You say:</a:t>
            </a: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"Generate unit tests for this module with mocks"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2"/>
          <p:cNvSpPr/>
          <p:nvPr/>
        </p:nvSpPr>
        <p:spPr>
          <a:xfrm>
            <a:off x="914400" y="1642021"/>
            <a:ext cx="7620000" cy="2000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Agent reads your code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Agent creates mock implementations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Agent writes comprehensive tests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Agent executes tests &amp; shows results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Shows 100% pass rate with coverage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/>
          <p:nvPr/>
        </p:nvSpPr>
        <p:spPr>
          <a:xfrm>
            <a:off x="609600" y="1173435"/>
            <a:ext cx="7924800" cy="1858938"/>
          </a:xfrm>
          <a:prstGeom prst="roundRect">
            <a:avLst>
              <a:gd fmla="val 3935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3"/>
          <p:cNvSpPr/>
          <p:nvPr/>
        </p:nvSpPr>
        <p:spPr>
          <a:xfrm>
            <a:off x="609600" y="3184773"/>
            <a:ext cx="7924800" cy="1604665"/>
          </a:xfrm>
          <a:prstGeom prst="roundRect">
            <a:avLst>
              <a:gd fmla="val 4558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Moving from Copilot? Gains vs Losses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876300" y="1402035"/>
            <a:ext cx="7578090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📈 What You GAIN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1066800" y="1697682"/>
            <a:ext cx="7239000" cy="1106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60"/>
              <a:buFont typeface="Arial"/>
              <a:buNone/>
            </a:pPr>
            <a:r>
              <a:rPr b="1" i="0" lang="en-GB" sz="96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Visual verification:</a:t>
            </a:r>
            <a:r>
              <a:rPr b="0" i="0" lang="en-GB" sz="96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Agent sees UI, auto-detects bugs, verifies fixes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60"/>
              <a:buFont typeface="Arial"/>
              <a:buNone/>
            </a:pPr>
            <a:r>
              <a:rPr b="1" i="0" lang="en-GB" sz="96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No context switching:</a:t>
            </a:r>
            <a:r>
              <a:rPr b="0" i="0" lang="en-GB" sz="96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Agent handles Editor→Terminal→Browser auto (cuts 60%)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60"/>
              <a:buFont typeface="Arial"/>
              <a:buNone/>
            </a:pPr>
            <a:r>
              <a:rPr b="1" i="0" lang="en-GB" sz="96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Remembers patterns:</a:t>
            </a:r>
            <a:r>
              <a:rPr b="0" i="0" lang="en-GB" sz="96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Learns fixes &amp; applies them to new tasks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60"/>
              <a:buFont typeface="Arial"/>
              <a:buNone/>
            </a:pPr>
            <a:r>
              <a:rPr b="1" i="0" lang="en-GB" sz="96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Full-stack end-to-end:</a:t>
            </a:r>
            <a:r>
              <a:rPr b="0" i="0" lang="en-GB" sz="96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One request includes API + UI + testing (5x faster)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876300" y="3413373"/>
            <a:ext cx="7578090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📉 REAL LOSSES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1066800" y="3709020"/>
            <a:ext cx="7239000" cy="851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PR reviews in editor:</a:t>
            </a: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Must use GitHub website instead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Missing extensions:</a:t>
            </a: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5K vs 100K marketplace tools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Slower quick fixes:</a:t>
            </a: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Planning delay for simple refactors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/>
        </p:nvSpPr>
        <p:spPr>
          <a:xfrm>
            <a:off x="609600" y="1249635"/>
            <a:ext cx="7924800" cy="711622"/>
          </a:xfrm>
          <a:prstGeom prst="roundRect">
            <a:avLst>
              <a:gd fmla="val 1027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4"/>
          <p:cNvSpPr/>
          <p:nvPr/>
        </p:nvSpPr>
        <p:spPr>
          <a:xfrm>
            <a:off x="609600" y="2075557"/>
            <a:ext cx="7924800" cy="711622"/>
          </a:xfrm>
          <a:prstGeom prst="roundRect">
            <a:avLst>
              <a:gd fmla="val 1027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4"/>
          <p:cNvSpPr/>
          <p:nvPr/>
        </p:nvSpPr>
        <p:spPr>
          <a:xfrm>
            <a:off x="609600" y="2901479"/>
            <a:ext cx="7924800" cy="711622"/>
          </a:xfrm>
          <a:prstGeom prst="roundRect">
            <a:avLst>
              <a:gd fmla="val 1027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4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Is Moving Beneficial? Use Case Breakdown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800100" y="1402035"/>
            <a:ext cx="7733538" cy="170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60"/>
              <a:buFont typeface="Arial"/>
              <a:buNone/>
            </a:pPr>
            <a:r>
              <a:rPr b="1" i="0" lang="en-GB" sz="96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✅ ANTIGRAVITY WINS (Best Choice)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4"/>
          <p:cNvSpPr/>
          <p:nvPr/>
        </p:nvSpPr>
        <p:spPr>
          <a:xfrm>
            <a:off x="800100" y="1648867"/>
            <a:ext cx="773353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Full-stack apps • UI + Backend simultaneously • Visual debugging • E2E testing • Multi-surface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4"/>
          <p:cNvSpPr/>
          <p:nvPr/>
        </p:nvSpPr>
        <p:spPr>
          <a:xfrm>
            <a:off x="800100" y="2227957"/>
            <a:ext cx="7733538" cy="170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960"/>
              <a:buFont typeface="Arial"/>
              <a:buNone/>
            </a:pPr>
            <a:r>
              <a:rPr b="1" i="0" lang="en-GB" sz="96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⚖️ EQUALLY GOOD (Same Performance)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800100" y="2474788"/>
            <a:ext cx="773353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Pure backend API work • Database operations • CLI tool development • No UI verification needed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4"/>
          <p:cNvSpPr/>
          <p:nvPr/>
        </p:nvSpPr>
        <p:spPr>
          <a:xfrm>
            <a:off x="800100" y="3053879"/>
            <a:ext cx="7733538" cy="170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60"/>
              <a:buFont typeface="Arial"/>
              <a:buNone/>
            </a:pPr>
            <a:r>
              <a:rPr b="1" i="0" lang="en-GB" sz="96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❌ COPILOT FASTER (Use Copilot)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4"/>
          <p:cNvSpPr/>
          <p:nvPr/>
        </p:nvSpPr>
        <p:spPr>
          <a:xfrm>
            <a:off x="800100" y="3300710"/>
            <a:ext cx="773353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Single-line fixes • Quick refactors • PR reviews (GitHub editor integration) • Fast iterations on known patterns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/>
          <p:nvPr/>
        </p:nvSpPr>
        <p:spPr>
          <a:xfrm>
            <a:off x="609600" y="1249635"/>
            <a:ext cx="7924800" cy="754335"/>
          </a:xfrm>
          <a:prstGeom prst="roundRect">
            <a:avLst>
              <a:gd fmla="val 9697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609600" y="2156371"/>
            <a:ext cx="7924800" cy="754335"/>
          </a:xfrm>
          <a:prstGeom prst="roundRect">
            <a:avLst>
              <a:gd fmla="val 9697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609600" y="3063106"/>
            <a:ext cx="7924800" cy="754335"/>
          </a:xfrm>
          <a:prstGeom prst="roundRect">
            <a:avLst>
              <a:gd fmla="val 9697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When Does Antigravity Matter Most?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800100" y="1402035"/>
            <a:ext cx="7733538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80"/>
              <a:buFont typeface="Arial"/>
              <a:buNone/>
            </a:pPr>
            <a:r>
              <a:rPr b="1" i="0" lang="en-GB" sz="108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✅ HIGH VALUE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800100" y="1670224"/>
            <a:ext cx="7733538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Full-stack apps (UI + Backend) • Visual debugging • End-to-end testing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800100" y="2308771"/>
            <a:ext cx="7733538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80"/>
              <a:buFont typeface="Arial"/>
              <a:buNone/>
            </a:pPr>
            <a:r>
              <a:rPr b="1" i="0" lang="en-GB" sz="108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⚖️ MEDIUM VALUE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800100" y="2576959"/>
            <a:ext cx="7733538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Backend with complex deployment • Microservices orchestration • API testing &amp; logs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800100" y="3215506"/>
            <a:ext cx="7733538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80"/>
              <a:buFont typeface="Arial"/>
              <a:buNone/>
            </a:pPr>
            <a:r>
              <a:rPr b="1" i="0" lang="en-GB" sz="108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⚠️ LOW VALUE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5"/>
          <p:cNvSpPr/>
          <p:nvPr/>
        </p:nvSpPr>
        <p:spPr>
          <a:xfrm>
            <a:off x="800100" y="3483694"/>
            <a:ext cx="7733538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Pure backend refactoring • Single-file changes • Simple CRUD operations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6"/>
          <p:cNvSpPr/>
          <p:nvPr/>
        </p:nvSpPr>
        <p:spPr>
          <a:xfrm>
            <a:off x="609600" y="1661071"/>
            <a:ext cx="7924800" cy="1642765"/>
          </a:xfrm>
          <a:prstGeom prst="roundRect">
            <a:avLst>
              <a:gd fmla="val 4453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6"/>
          <p:cNvSpPr/>
          <p:nvPr/>
        </p:nvSpPr>
        <p:spPr>
          <a:xfrm>
            <a:off x="609600" y="3456236"/>
            <a:ext cx="7924800" cy="1642765"/>
          </a:xfrm>
          <a:prstGeom prst="roundRect">
            <a:avLst>
              <a:gd fmla="val 4453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6"/>
          <p:cNvSpPr/>
          <p:nvPr/>
        </p:nvSpPr>
        <p:spPr>
          <a:xfrm>
            <a:off x="609600" y="609600"/>
            <a:ext cx="7924800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For Backend-Only Teams (FastAPI/Microservices)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6"/>
          <p:cNvSpPr/>
          <p:nvPr/>
        </p:nvSpPr>
        <p:spPr>
          <a:xfrm>
            <a:off x="876300" y="1889671"/>
            <a:ext cx="7578090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✅ Antigravity Still WINS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6"/>
          <p:cNvSpPr/>
          <p:nvPr/>
        </p:nvSpPr>
        <p:spPr>
          <a:xfrm>
            <a:off x="1066800" y="2223418"/>
            <a:ext cx="7239000" cy="851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Terminal orchestration:</a:t>
            </a: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Better than Copilot (agent monitors output)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Multi-agent work:</a:t>
            </a: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Run 3 microservices in parallel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Learns from experience:</a:t>
            </a: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Remembers past DB issues, deployment fixes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6"/>
          <p:cNvSpPr/>
          <p:nvPr/>
        </p:nvSpPr>
        <p:spPr>
          <a:xfrm>
            <a:off x="876300" y="3684836"/>
            <a:ext cx="7578090" cy="18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❌ Browser Superpower Wasted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6"/>
          <p:cNvSpPr/>
          <p:nvPr/>
        </p:nvSpPr>
        <p:spPr>
          <a:xfrm>
            <a:off x="1066800" y="4018583"/>
            <a:ext cx="7239000" cy="851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No UI to see:</a:t>
            </a: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Visual debugging feature is useless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Copilot matches on code:</a:t>
            </a: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Both write APIs equally well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1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GitHub integration still missing:</a:t>
            </a:r>
            <a:r>
              <a:rPr b="0" i="0" lang="en-GB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PR reviews require browser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"/>
          <p:cNvSpPr/>
          <p:nvPr/>
        </p:nvSpPr>
        <p:spPr>
          <a:xfrm>
            <a:off x="609600" y="1249635"/>
            <a:ext cx="7924800" cy="2438326"/>
          </a:xfrm>
          <a:prstGeom prst="roundRect">
            <a:avLst>
              <a:gd fmla="val 3000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7"/>
          <p:cNvSpPr/>
          <p:nvPr/>
        </p:nvSpPr>
        <p:spPr>
          <a:xfrm>
            <a:off x="914400" y="2061939"/>
            <a:ext cx="7315200" cy="976833"/>
          </a:xfrm>
          <a:prstGeom prst="roundRect">
            <a:avLst>
              <a:gd fmla="val 74887" name="adj"/>
            </a:avLst>
          </a:prstGeom>
          <a:solidFill>
            <a:srgbClr val="0F172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7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Honest Assessment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7"/>
          <p:cNvSpPr/>
          <p:nvPr/>
        </p:nvSpPr>
        <p:spPr>
          <a:xfrm>
            <a:off x="841248" y="1554435"/>
            <a:ext cx="7461504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b="0" i="0" lang="en-GB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For pure FastAPI microservices with </a:t>
            </a:r>
            <a:r>
              <a:rPr b="1" i="0" lang="en-GB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no frontend</a:t>
            </a:r>
            <a:r>
              <a:rPr b="0" i="0" lang="en-GB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7"/>
          <p:cNvSpPr/>
          <p:nvPr/>
        </p:nvSpPr>
        <p:spPr>
          <a:xfrm>
            <a:off x="1093851" y="2309589"/>
            <a:ext cx="6956298" cy="213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ROI is LOWER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7"/>
          <p:cNvSpPr/>
          <p:nvPr/>
        </p:nvSpPr>
        <p:spPr>
          <a:xfrm>
            <a:off x="1093851" y="2599134"/>
            <a:ext cx="6956298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b="0" i="0" lang="en-GB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than for full-stack teams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7"/>
          <p:cNvSpPr/>
          <p:nvPr/>
        </p:nvSpPr>
        <p:spPr>
          <a:xfrm>
            <a:off x="841248" y="3191173"/>
            <a:ext cx="7461504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b="0" i="0" lang="en-GB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You might be better off with </a:t>
            </a:r>
            <a:r>
              <a:rPr b="1" i="0" lang="en-GB" sz="10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Copilot + GitHub integration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8"/>
          <p:cNvSpPr/>
          <p:nvPr/>
        </p:nvSpPr>
        <p:spPr>
          <a:xfrm>
            <a:off x="609600" y="1249635"/>
            <a:ext cx="7924800" cy="1572816"/>
          </a:xfrm>
          <a:prstGeom prst="roundRect">
            <a:avLst>
              <a:gd fmla="val 4651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8"/>
          <p:cNvSpPr/>
          <p:nvPr/>
        </p:nvSpPr>
        <p:spPr>
          <a:xfrm>
            <a:off x="609600" y="3051051"/>
            <a:ext cx="7924800" cy="1572816"/>
          </a:xfrm>
          <a:prstGeom prst="roundRect">
            <a:avLst>
              <a:gd fmla="val 4651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8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Getting Started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8"/>
          <p:cNvSpPr/>
          <p:nvPr/>
        </p:nvSpPr>
        <p:spPr>
          <a:xfrm>
            <a:off x="838200" y="1478235"/>
            <a:ext cx="7616952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40"/>
              <a:buFont typeface="Arial"/>
              <a:buNone/>
            </a:pPr>
            <a:r>
              <a:rPr b="1" i="0" lang="en-GB" sz="114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✅ Installation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8"/>
          <p:cNvSpPr/>
          <p:nvPr/>
        </p:nvSpPr>
        <p:spPr>
          <a:xfrm>
            <a:off x="838200" y="1833339"/>
            <a:ext cx="7616952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b="0" i="0" lang="en-GB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1. Download from antigravity.google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8"/>
          <p:cNvSpPr/>
          <p:nvPr/>
        </p:nvSpPr>
        <p:spPr>
          <a:xfrm>
            <a:off x="838200" y="2112243"/>
            <a:ext cx="7616952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b="0" i="0" lang="en-GB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2. Sign with Gmail (free preview)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8"/>
          <p:cNvSpPr/>
          <p:nvPr/>
        </p:nvSpPr>
        <p:spPr>
          <a:xfrm>
            <a:off x="838200" y="2391147"/>
            <a:ext cx="7616952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b="0" i="0" lang="en-GB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3. Install browser extension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8"/>
          <p:cNvSpPr/>
          <p:nvPr/>
        </p:nvSpPr>
        <p:spPr>
          <a:xfrm>
            <a:off x="838200" y="3279651"/>
            <a:ext cx="7616952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1" i="0" lang="en-GB" sz="11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 Specs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8"/>
          <p:cNvSpPr/>
          <p:nvPr/>
        </p:nvSpPr>
        <p:spPr>
          <a:xfrm>
            <a:off x="838200" y="3634755"/>
            <a:ext cx="7616952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0" i="0" lang="en-GB" sz="11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macOS • Windows • Linux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8"/>
          <p:cNvSpPr/>
          <p:nvPr/>
        </p:nvSpPr>
        <p:spPr>
          <a:xfrm>
            <a:off x="838200" y="3913659"/>
            <a:ext cx="7616952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0" i="0" lang="en-GB" sz="11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Gemini 3 Pro (+ Claude, GPT)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8"/>
          <p:cNvSpPr/>
          <p:nvPr/>
        </p:nvSpPr>
        <p:spPr>
          <a:xfrm>
            <a:off x="838200" y="4192563"/>
            <a:ext cx="7616952" cy="20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Arial"/>
              <a:buNone/>
            </a:pPr>
            <a:r>
              <a:rPr b="0" i="0" lang="en-GB" sz="11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 for individual preview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"/>
          <p:cNvSpPr/>
          <p:nvPr/>
        </p:nvSpPr>
        <p:spPr>
          <a:xfrm>
            <a:off x="3392782" y="1804095"/>
            <a:ext cx="235836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9"/>
          <p:cNvSpPr/>
          <p:nvPr/>
        </p:nvSpPr>
        <p:spPr>
          <a:xfrm>
            <a:off x="2368708" y="2581275"/>
            <a:ext cx="440651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Watch real-time: Natural Language → Working App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9"/>
          <p:cNvSpPr/>
          <p:nvPr/>
        </p:nvSpPr>
        <p:spPr>
          <a:xfrm>
            <a:off x="3188376" y="3152775"/>
            <a:ext cx="276724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Live execution in Agent Manager with artifacts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Demo: Real-Time Workflow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0"/>
          <p:cNvSpPr/>
          <p:nvPr/>
        </p:nvSpPr>
        <p:spPr>
          <a:xfrm>
            <a:off x="914400" y="1249635"/>
            <a:ext cx="7620000" cy="2000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 ask:</a:t>
            </a: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"Build a todo app with add/delete features"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Agent thinks:</a:t>
            </a: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Planning &amp; decomposition (visible)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Agent codes:</a:t>
            </a: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Multiple files + diffs shown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Agent tests:</a:t>
            </a: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Runs in terminal + browser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Agent verifies:</a:t>
            </a: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Screenshots + recordings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"/>
          <p:cNvSpPr/>
          <p:nvPr/>
        </p:nvSpPr>
        <p:spPr>
          <a:xfrm>
            <a:off x="609600" y="1249635"/>
            <a:ext cx="7924800" cy="993130"/>
          </a:xfrm>
          <a:prstGeom prst="roundRect">
            <a:avLst>
              <a:gd fmla="val 7365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609600" y="2395165"/>
            <a:ext cx="7924800" cy="993130"/>
          </a:xfrm>
          <a:prstGeom prst="roundRect">
            <a:avLst>
              <a:gd fmla="val 7365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609600" y="3540696"/>
            <a:ext cx="7924800" cy="993130"/>
          </a:xfrm>
          <a:prstGeom prst="roundRect">
            <a:avLst>
              <a:gd fmla="val 7365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Demo: Artifacts Panel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1"/>
          <p:cNvSpPr/>
          <p:nvPr/>
        </p:nvSpPr>
        <p:spPr>
          <a:xfrm>
            <a:off x="838200" y="1478235"/>
            <a:ext cx="761695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80"/>
              <a:buFont typeface="Arial"/>
              <a:buNone/>
            </a:pPr>
            <a:r>
              <a:rPr b="1" i="0" lang="en-GB" sz="10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📋 Task Plan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1"/>
          <p:cNvSpPr/>
          <p:nvPr/>
        </p:nvSpPr>
        <p:spPr>
          <a:xfrm>
            <a:off x="838200" y="1784524"/>
            <a:ext cx="761695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b="0" i="0" lang="en-GB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What agent plans to 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1"/>
          <p:cNvSpPr/>
          <p:nvPr/>
        </p:nvSpPr>
        <p:spPr>
          <a:xfrm>
            <a:off x="838200" y="2623765"/>
            <a:ext cx="761695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80"/>
              <a:buFont typeface="Arial"/>
              <a:buNone/>
            </a:pPr>
            <a:r>
              <a:rPr b="1" i="0" lang="en-GB" sz="10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🎬 Walkthrough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1"/>
          <p:cNvSpPr/>
          <p:nvPr/>
        </p:nvSpPr>
        <p:spPr>
          <a:xfrm>
            <a:off x="838200" y="2930054"/>
            <a:ext cx="761695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b="0" i="0" lang="en-GB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What agent actually did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1"/>
          <p:cNvSpPr/>
          <p:nvPr/>
        </p:nvSpPr>
        <p:spPr>
          <a:xfrm>
            <a:off x="838200" y="3769296"/>
            <a:ext cx="761695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80"/>
              <a:buFont typeface="Arial"/>
              <a:buNone/>
            </a:pPr>
            <a:r>
              <a:rPr b="1" i="0" lang="en-GB" sz="10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🎥 Browser Video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1"/>
          <p:cNvSpPr/>
          <p:nvPr/>
        </p:nvSpPr>
        <p:spPr>
          <a:xfrm>
            <a:off x="838200" y="4075584"/>
            <a:ext cx="7616952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b="0" i="0" lang="en-GB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Real testing in action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Demo: Iterate in Real-Time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2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If app doesn't match requirements, I can iterate: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2"/>
          <p:cNvSpPr/>
          <p:nvPr/>
        </p:nvSpPr>
        <p:spPr>
          <a:xfrm>
            <a:off x="914400" y="1642021"/>
            <a:ext cx="7620000" cy="15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 say:</a:t>
            </a: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"Change button color to blue"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Agent:</a:t>
            </a: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Updates code immediately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 see:</a:t>
            </a: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New screenshot in artifacts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1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Live browser:</a:t>
            </a: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Shows updated app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Why Antigravity Matters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3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🎯 Build faster: 1 description → working app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🔍 More visibility: See every step &amp; artifact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✅ Better quality: Automated testing &amp; verification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🚀 Future of dev: Agent-first, not code-first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4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Next Steps for You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4"/>
          <p:cNvSpPr/>
          <p:nvPr/>
        </p:nvSpPr>
        <p:spPr>
          <a:xfrm>
            <a:off x="914400" y="1249635"/>
            <a:ext cx="7620000" cy="2000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Download Antigravity: </a:t>
            </a:r>
            <a:r>
              <a:rPr b="1" i="0" lang="en-GB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antigravity.google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Start with Playground (no setup needed)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Try simple task first: "Build a todo app"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Read docs &amp; try Rules/Workflows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GB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Scale to your real projects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5"/>
          <p:cNvSpPr/>
          <p:nvPr/>
        </p:nvSpPr>
        <p:spPr>
          <a:xfrm>
            <a:off x="609600" y="1486421"/>
            <a:ext cx="2327523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5"/>
          <p:cNvSpPr/>
          <p:nvPr/>
        </p:nvSpPr>
        <p:spPr>
          <a:xfrm>
            <a:off x="2982813" y="1486421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5"/>
          <p:cNvSpPr/>
          <p:nvPr/>
        </p:nvSpPr>
        <p:spPr>
          <a:xfrm>
            <a:off x="5743352" y="1486421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5"/>
          <p:cNvSpPr/>
          <p:nvPr/>
        </p:nvSpPr>
        <p:spPr>
          <a:xfrm>
            <a:off x="609600" y="1830735"/>
            <a:ext cx="2327523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5"/>
          <p:cNvSpPr/>
          <p:nvPr/>
        </p:nvSpPr>
        <p:spPr>
          <a:xfrm>
            <a:off x="2982813" y="1830735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5"/>
          <p:cNvSpPr/>
          <p:nvPr/>
        </p:nvSpPr>
        <p:spPr>
          <a:xfrm>
            <a:off x="5743352" y="1830735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5"/>
          <p:cNvSpPr/>
          <p:nvPr/>
        </p:nvSpPr>
        <p:spPr>
          <a:xfrm>
            <a:off x="609600" y="2175049"/>
            <a:ext cx="2327523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5"/>
          <p:cNvSpPr/>
          <p:nvPr/>
        </p:nvSpPr>
        <p:spPr>
          <a:xfrm>
            <a:off x="2982813" y="2175049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5"/>
          <p:cNvSpPr/>
          <p:nvPr/>
        </p:nvSpPr>
        <p:spPr>
          <a:xfrm>
            <a:off x="5743352" y="2175049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5"/>
          <p:cNvSpPr/>
          <p:nvPr/>
        </p:nvSpPr>
        <p:spPr>
          <a:xfrm>
            <a:off x="609600" y="2519363"/>
            <a:ext cx="2327523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5"/>
          <p:cNvSpPr/>
          <p:nvPr/>
        </p:nvSpPr>
        <p:spPr>
          <a:xfrm>
            <a:off x="2982813" y="2519363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5"/>
          <p:cNvSpPr/>
          <p:nvPr/>
        </p:nvSpPr>
        <p:spPr>
          <a:xfrm>
            <a:off x="5743352" y="2519363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5"/>
          <p:cNvSpPr/>
          <p:nvPr/>
        </p:nvSpPr>
        <p:spPr>
          <a:xfrm>
            <a:off x="609600" y="2863676"/>
            <a:ext cx="2327523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5"/>
          <p:cNvSpPr/>
          <p:nvPr/>
        </p:nvSpPr>
        <p:spPr>
          <a:xfrm>
            <a:off x="2982813" y="2863676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5"/>
          <p:cNvSpPr/>
          <p:nvPr/>
        </p:nvSpPr>
        <p:spPr>
          <a:xfrm>
            <a:off x="5743352" y="2863676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5"/>
          <p:cNvSpPr/>
          <p:nvPr/>
        </p:nvSpPr>
        <p:spPr>
          <a:xfrm>
            <a:off x="609600" y="3207990"/>
            <a:ext cx="2327523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5"/>
          <p:cNvSpPr/>
          <p:nvPr/>
        </p:nvSpPr>
        <p:spPr>
          <a:xfrm>
            <a:off x="2982813" y="3207990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5"/>
          <p:cNvSpPr/>
          <p:nvPr/>
        </p:nvSpPr>
        <p:spPr>
          <a:xfrm>
            <a:off x="5743352" y="3207990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5"/>
          <p:cNvSpPr/>
          <p:nvPr/>
        </p:nvSpPr>
        <p:spPr>
          <a:xfrm>
            <a:off x="609600" y="3552304"/>
            <a:ext cx="2327523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5"/>
          <p:cNvSpPr/>
          <p:nvPr/>
        </p:nvSpPr>
        <p:spPr>
          <a:xfrm>
            <a:off x="2982813" y="3552304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5"/>
          <p:cNvSpPr/>
          <p:nvPr/>
        </p:nvSpPr>
        <p:spPr>
          <a:xfrm>
            <a:off x="5743352" y="3552304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5"/>
          <p:cNvSpPr/>
          <p:nvPr/>
        </p:nvSpPr>
        <p:spPr>
          <a:xfrm>
            <a:off x="609600" y="3896618"/>
            <a:ext cx="2327523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5"/>
          <p:cNvSpPr/>
          <p:nvPr/>
        </p:nvSpPr>
        <p:spPr>
          <a:xfrm>
            <a:off x="2982813" y="3896618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5"/>
          <p:cNvSpPr/>
          <p:nvPr/>
        </p:nvSpPr>
        <p:spPr>
          <a:xfrm>
            <a:off x="5743352" y="3896618"/>
            <a:ext cx="2714848" cy="291033"/>
          </a:xfrm>
          <a:prstGeom prst="roundRect">
            <a:avLst>
              <a:gd fmla="val 1570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5"/>
          <p:cNvSpPr/>
          <p:nvPr/>
        </p:nvSpPr>
        <p:spPr>
          <a:xfrm>
            <a:off x="609600" y="4320183"/>
            <a:ext cx="7924800" cy="213717"/>
          </a:xfrm>
          <a:prstGeom prst="rect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5"/>
          <p:cNvSpPr/>
          <p:nvPr/>
        </p:nvSpPr>
        <p:spPr>
          <a:xfrm>
            <a:off x="609600" y="609600"/>
            <a:ext cx="808329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100"/>
              <a:buFont typeface="Arial"/>
              <a:buNone/>
            </a:pPr>
            <a:r>
              <a:rPr b="1" lang="en-GB" sz="2100">
                <a:solidFill>
                  <a:srgbClr val="38BDF8"/>
                </a:solidFill>
              </a:rPr>
              <a:t>Antigravity vs AppMap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5"/>
          <p:cNvSpPr/>
          <p:nvPr/>
        </p:nvSpPr>
        <p:spPr>
          <a:xfrm>
            <a:off x="685800" y="1081980"/>
            <a:ext cx="2218398" cy="149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889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39"/>
              <a:buFont typeface="Arial"/>
              <a:buNone/>
            </a:pPr>
            <a:r>
              <a:rPr b="1" i="0" lang="en-GB" sz="83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Dimension</a:t>
            </a:r>
            <a:endParaRPr b="0" i="0" sz="8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5"/>
          <p:cNvSpPr/>
          <p:nvPr/>
        </p:nvSpPr>
        <p:spPr>
          <a:xfrm>
            <a:off x="3058790" y="1081980"/>
            <a:ext cx="2613773" cy="149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889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39"/>
              <a:buFont typeface="Arial"/>
              <a:buNone/>
            </a:pPr>
            <a:r>
              <a:rPr b="1" i="0" lang="en-GB" sz="83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🚀 Antigravity</a:t>
            </a:r>
            <a:endParaRPr b="0" i="0" sz="8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5"/>
          <p:cNvSpPr/>
          <p:nvPr/>
        </p:nvSpPr>
        <p:spPr>
          <a:xfrm>
            <a:off x="5819403" y="1081980"/>
            <a:ext cx="2613773" cy="149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889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39"/>
              <a:buFont typeface="Arial"/>
              <a:buNone/>
            </a:pPr>
            <a:r>
              <a:rPr b="1" i="0" lang="en-GB" sz="83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🗺️ AppMap + Navie</a:t>
            </a:r>
            <a:endParaRPr b="0" i="0" sz="8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5"/>
          <p:cNvSpPr/>
          <p:nvPr/>
        </p:nvSpPr>
        <p:spPr>
          <a:xfrm>
            <a:off x="704850" y="1562621"/>
            <a:ext cx="2199195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Static code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5"/>
          <p:cNvSpPr/>
          <p:nvPr/>
        </p:nvSpPr>
        <p:spPr>
          <a:xfrm>
            <a:off x="3059013" y="1562621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Yes, via editor/file access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5"/>
          <p:cNvSpPr/>
          <p:nvPr/>
        </p:nvSpPr>
        <p:spPr>
          <a:xfrm>
            <a:off x="5819552" y="1562621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Yes, relevant snippets tied to traces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5"/>
          <p:cNvSpPr/>
          <p:nvPr/>
        </p:nvSpPr>
        <p:spPr>
          <a:xfrm>
            <a:off x="704850" y="1906935"/>
            <a:ext cx="2199195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Build/test/CLI logs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5"/>
          <p:cNvSpPr/>
          <p:nvPr/>
        </p:nvSpPr>
        <p:spPr>
          <a:xfrm>
            <a:off x="3059013" y="1906935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Yes, full terminal output text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5"/>
          <p:cNvSpPr/>
          <p:nvPr/>
        </p:nvSpPr>
        <p:spPr>
          <a:xfrm>
            <a:off x="5819552" y="1906935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△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Not primary; focus on traces, not generic console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5"/>
          <p:cNvSpPr/>
          <p:nvPr/>
        </p:nvSpPr>
        <p:spPr>
          <a:xfrm>
            <a:off x="704850" y="2251249"/>
            <a:ext cx="2199195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Structured runtime traces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5"/>
          <p:cNvSpPr/>
          <p:nvPr/>
        </p:nvSpPr>
        <p:spPr>
          <a:xfrm>
            <a:off x="3059013" y="2251249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△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Mostly via logs; not structured call graphs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5"/>
          <p:cNvSpPr/>
          <p:nvPr/>
        </p:nvSpPr>
        <p:spPr>
          <a:xfrm>
            <a:off x="5819552" y="2251249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Yes: call graphs, params/returns, SQL/HTTP, timings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5"/>
          <p:cNvSpPr/>
          <p:nvPr/>
        </p:nvSpPr>
        <p:spPr>
          <a:xfrm>
            <a:off x="704850" y="2595563"/>
            <a:ext cx="2199195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UI pixels / DOM / CSS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5"/>
          <p:cNvSpPr/>
          <p:nvPr/>
        </p:nvSpPr>
        <p:spPr>
          <a:xfrm>
            <a:off x="3059013" y="2595563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Yes: screenshots, DOM, computed styles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5"/>
          <p:cNvSpPr/>
          <p:nvPr/>
        </p:nvSpPr>
        <p:spPr>
          <a:xfrm>
            <a:off x="5819552" y="2595563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No: not focused on visual UI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5"/>
          <p:cNvSpPr/>
          <p:nvPr/>
        </p:nvSpPr>
        <p:spPr>
          <a:xfrm>
            <a:off x="704850" y="2939876"/>
            <a:ext cx="2199195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Per-test / per-request views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5"/>
          <p:cNvSpPr/>
          <p:nvPr/>
        </p:nvSpPr>
        <p:spPr>
          <a:xfrm>
            <a:off x="3059013" y="2939876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△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Test results + logs, but not AppMap-style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5"/>
          <p:cNvSpPr/>
          <p:nvPr/>
        </p:nvSpPr>
        <p:spPr>
          <a:xfrm>
            <a:off x="5819552" y="2939876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Yes: one AppMap per test/request/recording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5"/>
          <p:cNvSpPr/>
          <p:nvPr/>
        </p:nvSpPr>
        <p:spPr>
          <a:xfrm>
            <a:off x="704850" y="3284190"/>
            <a:ext cx="2199195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Behavior diagrams (sequence, deps)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5"/>
          <p:cNvSpPr/>
          <p:nvPr/>
        </p:nvSpPr>
        <p:spPr>
          <a:xfrm>
            <a:off x="3059013" y="3284190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△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Indirectly via artifacts; mostly textual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5"/>
          <p:cNvSpPr/>
          <p:nvPr/>
        </p:nvSpPr>
        <p:spPr>
          <a:xfrm>
            <a:off x="5819552" y="3284190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Yes: generated from AppMap JSON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5"/>
          <p:cNvSpPr/>
          <p:nvPr/>
        </p:nvSpPr>
        <p:spPr>
          <a:xfrm>
            <a:off x="704850" y="3628504"/>
            <a:ext cx="2199195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Orchestration of tools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5"/>
          <p:cNvSpPr/>
          <p:nvPr/>
        </p:nvSpPr>
        <p:spPr>
          <a:xfrm>
            <a:off x="3059013" y="3628504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Yes: agent runs editor, terminal, browser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5"/>
          <p:cNvSpPr/>
          <p:nvPr/>
        </p:nvSpPr>
        <p:spPr>
          <a:xfrm>
            <a:off x="5819552" y="3628504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No: observes runtime, doesn't orchestrate dev surfaces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5"/>
          <p:cNvSpPr/>
          <p:nvPr/>
        </p:nvSpPr>
        <p:spPr>
          <a:xfrm>
            <a:off x="704850" y="3972818"/>
            <a:ext cx="2199195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Docs/PRs/issues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5"/>
          <p:cNvSpPr/>
          <p:nvPr/>
        </p:nvSpPr>
        <p:spPr>
          <a:xfrm>
            <a:off x="3059013" y="3972818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Not automatic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5819552" y="3972818"/>
            <a:ext cx="2613697" cy="1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80"/>
              <a:buFont typeface="Arial"/>
              <a:buNone/>
            </a:pPr>
            <a:r>
              <a:rPr b="1" i="0" lang="en-GB" sz="78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r>
              <a:rPr b="0" i="0" lang="en-GB" sz="7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Not automatic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530352" y="4405908"/>
            <a:ext cx="8083296" cy="127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20"/>
              <a:buFont typeface="Arial"/>
              <a:buNone/>
            </a:pPr>
            <a:r>
              <a:rPr b="1" i="0" lang="en-GB" sz="72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Legend: </a:t>
            </a:r>
            <a:r>
              <a:rPr b="1" i="0" lang="en-GB" sz="72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 Complete</a:t>
            </a:r>
            <a:r>
              <a:rPr b="1" i="0" lang="en-GB" sz="72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• </a:t>
            </a:r>
            <a:r>
              <a:rPr b="1" i="0" lang="en-GB" sz="72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△ Partial</a:t>
            </a:r>
            <a:r>
              <a:rPr b="1" i="0" lang="en-GB" sz="72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• </a:t>
            </a:r>
            <a:r>
              <a:rPr b="1" i="0" lang="en-GB" sz="72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✗ Not Offered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6"/>
          <p:cNvSpPr/>
          <p:nvPr/>
        </p:nvSpPr>
        <p:spPr>
          <a:xfrm>
            <a:off x="609600" y="609600"/>
            <a:ext cx="8083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GB" sz="2700">
                <a:solidFill>
                  <a:srgbClr val="38BDF8"/>
                </a:solidFill>
              </a:rPr>
              <a:t>Final Verdict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6"/>
          <p:cNvSpPr/>
          <p:nvPr/>
        </p:nvSpPr>
        <p:spPr>
          <a:xfrm>
            <a:off x="914400" y="1249635"/>
            <a:ext cx="76200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6"/>
          <p:cNvSpPr/>
          <p:nvPr/>
        </p:nvSpPr>
        <p:spPr>
          <a:xfrm>
            <a:off x="609600" y="1249635"/>
            <a:ext cx="7924800" cy="754200"/>
          </a:xfrm>
          <a:prstGeom prst="roundRect">
            <a:avLst>
              <a:gd fmla="val 9697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6"/>
          <p:cNvSpPr/>
          <p:nvPr/>
        </p:nvSpPr>
        <p:spPr>
          <a:xfrm>
            <a:off x="857700" y="1541385"/>
            <a:ext cx="77334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80"/>
              <a:buFont typeface="Arial"/>
              <a:buNone/>
            </a:pPr>
            <a:r>
              <a:rPr b="1" lang="en-GB" sz="1080">
                <a:solidFill>
                  <a:srgbClr val="EF4444"/>
                </a:solidFill>
              </a:rPr>
              <a:t>⚠️ Traditional Development &lt; </a:t>
            </a:r>
            <a:r>
              <a:rPr b="1" lang="en-GB" sz="960">
                <a:solidFill>
                  <a:srgbClr val="0284C7"/>
                </a:solidFill>
              </a:rPr>
              <a:t>⚖️ Copilot Agent Mode &lt; </a:t>
            </a:r>
            <a:r>
              <a:rPr b="1" lang="en-GB" sz="1080">
                <a:solidFill>
                  <a:srgbClr val="22C55E"/>
                </a:solidFill>
              </a:rPr>
              <a:t>✅ Antigravity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80"/>
              <a:buFont typeface="Arial"/>
              <a:buNone/>
            </a:pPr>
            <a:r>
              <a:t/>
            </a:r>
            <a:endParaRPr b="1" sz="960">
              <a:solidFill>
                <a:srgbClr val="0284C7"/>
              </a:solidFill>
            </a:endParaRPr>
          </a:p>
          <a:p>
            <a:pPr indent="0" lvl="0" marL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80"/>
              <a:buFont typeface="Arial"/>
              <a:buNone/>
            </a:pPr>
            <a:r>
              <a:t/>
            </a:r>
            <a:endParaRPr b="1" sz="1080">
              <a:solidFill>
                <a:schemeClr val="lt1"/>
              </a:solidFill>
            </a:endParaRPr>
          </a:p>
        </p:txBody>
      </p:sp>
      <p:sp>
        <p:nvSpPr>
          <p:cNvPr id="468" name="Google Shape;468;p46"/>
          <p:cNvSpPr/>
          <p:nvPr/>
        </p:nvSpPr>
        <p:spPr>
          <a:xfrm>
            <a:off x="609600" y="2156371"/>
            <a:ext cx="7924800" cy="754200"/>
          </a:xfrm>
          <a:prstGeom prst="roundRect">
            <a:avLst>
              <a:gd fmla="val 9697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80"/>
              <a:buFont typeface="Arial"/>
              <a:buNone/>
            </a:pPr>
            <a:r>
              <a:rPr b="1" lang="en-GB" sz="1080">
                <a:solidFill>
                  <a:srgbClr val="F59E0B"/>
                </a:solidFill>
              </a:rPr>
              <a:t>⚖️ AppMap sits here </a:t>
            </a:r>
            <a:r>
              <a:rPr b="1" lang="en-GB" sz="1080">
                <a:solidFill>
                  <a:schemeClr val="lt1"/>
                </a:solidFill>
              </a:rPr>
              <a:t>between Copilot agent mode and antigravity, and boosts debugging and understanding.</a:t>
            </a:r>
            <a:endParaRPr sz="108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6"/>
          <p:cNvSpPr/>
          <p:nvPr/>
        </p:nvSpPr>
        <p:spPr>
          <a:xfrm>
            <a:off x="609600" y="3063121"/>
            <a:ext cx="7924800" cy="754200"/>
          </a:xfrm>
          <a:prstGeom prst="roundRect">
            <a:avLst>
              <a:gd fmla="val 9697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80"/>
              <a:buFont typeface="Arial"/>
              <a:buNone/>
            </a:pPr>
            <a:r>
              <a:rPr b="1" lang="en-GB" sz="1080">
                <a:solidFill>
                  <a:srgbClr val="F59E0B"/>
                </a:solidFill>
              </a:rPr>
              <a:t>⚖️ </a:t>
            </a:r>
            <a:r>
              <a:rPr b="1" lang="en-GB" sz="1080">
                <a:solidFill>
                  <a:srgbClr val="22C55E"/>
                </a:solidFill>
              </a:rPr>
              <a:t>Antigravity + AppMap </a:t>
            </a:r>
            <a:r>
              <a:rPr b="1" lang="en-GB" sz="1080">
                <a:solidFill>
                  <a:schemeClr val="lt1"/>
                </a:solidFill>
              </a:rPr>
              <a:t>= agentic execution(orchestrates terminal, browser, editor) + deep runtime understanding = Huge productivity Gains</a:t>
            </a:r>
            <a:endParaRPr sz="108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0" name="Google Shape;47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533" y="3467433"/>
            <a:ext cx="223225" cy="22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7"/>
          <p:cNvSpPr/>
          <p:nvPr/>
        </p:nvSpPr>
        <p:spPr>
          <a:xfrm>
            <a:off x="3324014" y="1579364"/>
            <a:ext cx="249589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7"/>
          <p:cNvSpPr/>
          <p:nvPr/>
        </p:nvSpPr>
        <p:spPr>
          <a:xfrm>
            <a:off x="4080532" y="2356545"/>
            <a:ext cx="9829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7"/>
          <p:cNvSpPr/>
          <p:nvPr/>
        </p:nvSpPr>
        <p:spPr>
          <a:xfrm>
            <a:off x="3957039" y="2775645"/>
            <a:ext cx="122992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🔗 antigravity.google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7"/>
          <p:cNvSpPr/>
          <p:nvPr/>
        </p:nvSpPr>
        <p:spPr>
          <a:xfrm>
            <a:off x="3794457" y="2962275"/>
            <a:ext cx="155501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📚 antigravity.google/docs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8BDF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